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F6FA1B6-6426-4ED4-B0E7-FDC54F73421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60A4B7-BB2B-43C4-B595-BA96DB9B6F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5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EA4EB9-16D6-44B0-AE7A-0A37D58C43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6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8F21D2-1DAE-4DF0-9E00-B9C88405B5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7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0A3674-4F21-4978-8AE3-52D1BE34F0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8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8EB2B4-F069-4EB6-A2CF-1BEA266CB2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9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3BA2FE-312C-47E9-BE9D-D091A660C8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949440" y="-548640"/>
            <a:ext cx="3474360" cy="3474360"/>
          </a:xfrm>
          <a:prstGeom prst="ellipse">
            <a:avLst/>
          </a:prstGeom>
          <a:solidFill>
            <a:srgbClr val="0b7285">
              <a:alpha val="18000"/>
            </a:srgbClr>
          </a:solidFill>
          <a:ln w="12600">
            <a:solidFill>
              <a:srgbClr val="0b7285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680960" y="2560320"/>
            <a:ext cx="2011320" cy="2011320"/>
          </a:xfrm>
          <a:prstGeom prst="ellipse">
            <a:avLst/>
          </a:prstGeom>
          <a:solidFill>
            <a:srgbClr val="1a9fb5">
              <a:alpha val="15000"/>
            </a:srgbClr>
          </a:solidFill>
          <a:ln w="12600">
            <a:solidFill>
              <a:srgbClr val="1a9fb5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7406640" y="502920"/>
            <a:ext cx="1096920" cy="1096920"/>
          </a:xfrm>
          <a:prstGeom prst="rect">
            <a:avLst/>
          </a:prstGeom>
          <a:ln w="0">
            <a:noFill/>
          </a:ln>
        </p:spPr>
      </p:pic>
      <p:sp>
        <p:nvSpPr>
          <p:cNvPr id="14" name="Shape 3"/>
          <p:cNvSpPr/>
          <p:nvPr/>
        </p:nvSpPr>
        <p:spPr>
          <a:xfrm>
            <a:off x="457200" y="438840"/>
            <a:ext cx="2651400" cy="273960"/>
          </a:xfrm>
          <a:prstGeom prst="rect">
            <a:avLst/>
          </a:prstGeom>
          <a:solidFill>
            <a:srgbClr val="0b7285"/>
          </a:solidFill>
          <a:ln w="12600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457200" y="4388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CS336 · AIML · B.Tech VI Sem CSE-C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457200" y="10058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AI Agent for </a:t>
            </a: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Disease Risk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457200" y="1691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22d3ee"/>
                </a:solidFill>
                <a:latin typeface="Calibri"/>
                <a:ea typeface="Calibri"/>
              </a:rPr>
              <a:t>Awareness and </a:t>
            </a:r>
            <a:r>
              <a:rPr b="1" lang="en-US" sz="3800" spc="-1" strike="noStrike">
                <a:solidFill>
                  <a:srgbClr val="22d3ee"/>
                </a:solidFill>
                <a:latin typeface="Calibri"/>
                <a:ea typeface="Calibri"/>
              </a:rPr>
              <a:t>Prevention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457200" y="2606040"/>
            <a:ext cx="6949080" cy="17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lt1"/>
                </a:solidFill>
                <a:latin typeface="Ebrima"/>
                <a:ea typeface="Ebrima"/>
              </a:rPr>
              <a:t>Chandrav Rajbangshi  - BTECH/10521/23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lt1"/>
                </a:solidFill>
                <a:latin typeface="Ebrima"/>
                <a:ea typeface="Ebrima"/>
              </a:rPr>
              <a:t>Nischal Singh              - BTECH/10529/23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lt1"/>
                </a:solidFill>
                <a:latin typeface="Ebrima"/>
                <a:ea typeface="Ebrima"/>
              </a:rPr>
              <a:t>Abhishek Sahu            - BTECH/10535/23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lt1"/>
                </a:solidFill>
                <a:latin typeface="Ebrima"/>
                <a:ea typeface="Ebrima"/>
              </a:rPr>
              <a:t>Aman Kumar Sah         - BTECH/10565/23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0" y="4736520"/>
            <a:ext cx="9143640" cy="406440"/>
          </a:xfrm>
          <a:prstGeom prst="rect">
            <a:avLst/>
          </a:prstGeom>
          <a:solidFill>
            <a:srgbClr val="0b7285">
              <a:alpha val="70000"/>
            </a:srgbClr>
          </a:solidFill>
          <a:ln w="12600">
            <a:solidFill>
              <a:srgbClr val="0b7285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457200" y="47548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e2ebf0"/>
                </a:solidFill>
                <a:latin typeface="Calibri"/>
              </a:rPr>
              <a:t>Assignment 3:-  </a:t>
            </a:r>
            <a:r>
              <a:rPr b="0" lang="en-US" sz="1050" spc="-1" strike="noStrike">
                <a:solidFill>
                  <a:srgbClr val="e2ebf0"/>
                </a:solidFill>
                <a:latin typeface="Calibri"/>
              </a:rPr>
              <a:t>https://github.com/Nischal07bot/disease_awarness_ai_agent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Problem Statement &amp; Target Audience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274320" y="822960"/>
            <a:ext cx="4114440" cy="4068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274320" y="822960"/>
            <a:ext cx="63720" cy="406872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457200" y="9144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3e"/>
                </a:solidFill>
                <a:latin typeface="Calibri"/>
              </a:rPr>
              <a:t>Problem Statement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457200" y="1454040"/>
            <a:ext cx="109440" cy="109440"/>
          </a:xfrm>
          <a:prstGeom prst="ellipse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658440" y="1325880"/>
            <a:ext cx="3520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Early detection of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Diabetes (PIMA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dataset) and Heart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Disease (UCI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dataset) is critical to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prevent severe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health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complications.</a:t>
            </a:r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57200" y="2139840"/>
            <a:ext cx="109440" cy="109440"/>
          </a:xfrm>
          <a:prstGeom prst="ellipse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658440" y="2103480"/>
            <a:ext cx="3520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Traditional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diagnosis: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Requires multiple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clinical tests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Can be time-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consuming and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expensive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457200" y="2825640"/>
            <a:ext cx="109440" cy="109440"/>
          </a:xfrm>
          <a:prstGeom prst="ellipse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58440" y="2789280"/>
            <a:ext cx="3520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There is a need for a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data-driven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predictive system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that: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Uses patient health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parameters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Provides fast,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reliable risk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prediction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457200" y="3511440"/>
            <a:ext cx="109440" cy="109440"/>
          </a:xfrm>
          <a:prstGeom prst="ellipse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666000" y="3436560"/>
            <a:ext cx="3520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This project aims to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build ML models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that can: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Predict likelihood of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Diabetes and Heart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Disease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Assist in early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screening and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decision support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4663440" y="914400"/>
            <a:ext cx="2011320" cy="529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5"/>
          <p:cNvSpPr/>
          <p:nvPr/>
        </p:nvSpPr>
        <p:spPr>
          <a:xfrm>
            <a:off x="4663440" y="914400"/>
            <a:ext cx="63720" cy="52992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Image 0" descr="preencoded.png"/>
          <p:cNvPicPr/>
          <p:nvPr/>
        </p:nvPicPr>
        <p:blipFill>
          <a:blip r:embed="rId1"/>
          <a:stretch/>
        </p:blipFill>
        <p:spPr>
          <a:xfrm>
            <a:off x="4800600" y="9878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8" name="Text 16"/>
          <p:cNvSpPr/>
          <p:nvPr/>
        </p:nvSpPr>
        <p:spPr>
          <a:xfrm>
            <a:off x="5257800" y="914400"/>
            <a:ext cx="1143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Clinical Decision 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Support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7"/>
          <p:cNvSpPr/>
          <p:nvPr/>
        </p:nvSpPr>
        <p:spPr>
          <a:xfrm>
            <a:off x="6903720" y="914400"/>
            <a:ext cx="2011320" cy="529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8"/>
          <p:cNvSpPr/>
          <p:nvPr/>
        </p:nvSpPr>
        <p:spPr>
          <a:xfrm>
            <a:off x="6903720" y="914400"/>
            <a:ext cx="63720" cy="52992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Image 1" descr="preencoded.png"/>
          <p:cNvPicPr/>
          <p:nvPr/>
        </p:nvPicPr>
        <p:blipFill>
          <a:blip r:embed="rId2"/>
          <a:stretch/>
        </p:blipFill>
        <p:spPr>
          <a:xfrm>
            <a:off x="7074360" y="9784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42" name="Text 19"/>
          <p:cNvSpPr/>
          <p:nvPr/>
        </p:nvSpPr>
        <p:spPr>
          <a:xfrm>
            <a:off x="7598520" y="914400"/>
            <a:ext cx="1206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Rural/Remote Health 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Screening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4663440" y="1600200"/>
            <a:ext cx="2011320" cy="613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1"/>
          <p:cNvSpPr/>
          <p:nvPr/>
        </p:nvSpPr>
        <p:spPr>
          <a:xfrm>
            <a:off x="4663440" y="1600200"/>
            <a:ext cx="63720" cy="6130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" name="Image 2" descr="preencoded.png"/>
          <p:cNvPicPr/>
          <p:nvPr/>
        </p:nvPicPr>
        <p:blipFill>
          <a:blip r:embed="rId3"/>
          <a:stretch/>
        </p:blipFill>
        <p:spPr>
          <a:xfrm>
            <a:off x="4874040" y="16736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46" name="Text 22"/>
          <p:cNvSpPr/>
          <p:nvPr/>
        </p:nvSpPr>
        <p:spPr>
          <a:xfrm>
            <a:off x="5257800" y="1600200"/>
            <a:ext cx="1206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Personal Health 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Monitoring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6"/>
          <p:cNvSpPr/>
          <p:nvPr/>
        </p:nvSpPr>
        <p:spPr>
          <a:xfrm>
            <a:off x="4663440" y="2377800"/>
            <a:ext cx="4251960" cy="248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8686800" y="4864680"/>
            <a:ext cx="34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663440" y="2480040"/>
            <a:ext cx="4251960" cy="237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Target </a:t>
            </a: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Audie</a:t>
            </a: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👨‍⚕️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Healthc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are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Professi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onals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Doctors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prelimi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nary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screeni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ng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support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🏥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Hospita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ls &amp;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Clinics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Assist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patient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🧑‍💻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Researc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hers &amp;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Data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Scientis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experi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mentati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on on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medical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dataset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🧑‍🤝‍🧑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General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Public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(Future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Scope)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Awaren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ess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tools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early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risk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detecti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Dataset Description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274320" y="822960"/>
            <a:ext cx="4114440" cy="402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274320" y="822960"/>
            <a:ext cx="63720" cy="402300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5"/>
          <p:cNvSpPr/>
          <p:nvPr/>
        </p:nvSpPr>
        <p:spPr>
          <a:xfrm>
            <a:off x="274320" y="822960"/>
            <a:ext cx="4114440" cy="43848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411480" y="8686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57" name="Text 6"/>
          <p:cNvSpPr/>
          <p:nvPr/>
        </p:nvSpPr>
        <p:spPr>
          <a:xfrm>
            <a:off x="777240" y="822960"/>
            <a:ext cx="3474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PIMA Indians Diabetes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338400" y="1325880"/>
            <a:ext cx="3986280" cy="411120"/>
          </a:xfrm>
          <a:prstGeom prst="rect">
            <a:avLst/>
          </a:prstGeom>
          <a:solidFill>
            <a:srgbClr val="ee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411480" y="132588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d1b3e"/>
                </a:solidFill>
                <a:latin typeface="Calibri"/>
              </a:rPr>
              <a:t>Samples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1572840" y="132588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768 (8 features + target)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338400" y="1764720"/>
            <a:ext cx="3986280" cy="411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411480" y="176472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d1b3e"/>
                </a:solidFill>
                <a:latin typeface="Calibri"/>
              </a:rPr>
              <a:t>Target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1572840" y="176472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Diabetic (1) / Non-Diabetic (0)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338400" y="2203560"/>
            <a:ext cx="3986280" cy="411120"/>
          </a:xfrm>
          <a:prstGeom prst="rect">
            <a:avLst/>
          </a:prstGeom>
          <a:solidFill>
            <a:srgbClr val="ee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411480" y="220356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d1b3e"/>
                </a:solidFill>
                <a:latin typeface="Calibri"/>
              </a:rPr>
              <a:t>Class Ratio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1572840" y="22035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1.87 : 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6"/>
          <p:cNvSpPr/>
          <p:nvPr/>
        </p:nvSpPr>
        <p:spPr>
          <a:xfrm>
            <a:off x="338400" y="2530440"/>
            <a:ext cx="3986280" cy="539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411480" y="264276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d1b3e"/>
                </a:solidFill>
                <a:latin typeface="Calibri"/>
              </a:rPr>
              <a:t>Preprocessing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1572840" y="26427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 </a:t>
            </a: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436 outliers (IQR): There are many outliers, therefore, they are not removed and Robust scaler is applied on the columns; 80/20 split → Train 614 / Test 154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411480" y="312732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4a7a8a"/>
                </a:solidFill>
                <a:latin typeface="Calibri"/>
              </a:rPr>
              <a:t>Features: Pregnancies · Glucose · BloodPressure · SkinThickness · Insulin · BMI · DiabetesPedigreeFunction · Age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0"/>
          <p:cNvSpPr/>
          <p:nvPr/>
        </p:nvSpPr>
        <p:spPr>
          <a:xfrm>
            <a:off x="4754880" y="822960"/>
            <a:ext cx="4114440" cy="402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4754880" y="822960"/>
            <a:ext cx="63720" cy="402300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22"/>
          <p:cNvSpPr/>
          <p:nvPr/>
        </p:nvSpPr>
        <p:spPr>
          <a:xfrm>
            <a:off x="4754880" y="822960"/>
            <a:ext cx="4114440" cy="4384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Image 1" descr="preencoded.png"/>
          <p:cNvPicPr/>
          <p:nvPr/>
        </p:nvPicPr>
        <p:blipFill>
          <a:blip r:embed="rId2"/>
          <a:stretch/>
        </p:blipFill>
        <p:spPr>
          <a:xfrm>
            <a:off x="4892040" y="8686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5" name="Text 23"/>
          <p:cNvSpPr/>
          <p:nvPr/>
        </p:nvSpPr>
        <p:spPr>
          <a:xfrm>
            <a:off x="5257800" y="822960"/>
            <a:ext cx="3474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UCI Heart Disease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4"/>
          <p:cNvSpPr/>
          <p:nvPr/>
        </p:nvSpPr>
        <p:spPr>
          <a:xfrm>
            <a:off x="4818960" y="1325880"/>
            <a:ext cx="3986280" cy="411120"/>
          </a:xfrm>
          <a:prstGeom prst="rect">
            <a:avLst/>
          </a:prstGeom>
          <a:solidFill>
            <a:srgbClr val="ff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5"/>
          <p:cNvSpPr/>
          <p:nvPr/>
        </p:nvSpPr>
        <p:spPr>
          <a:xfrm>
            <a:off x="4892040" y="132588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d1b3e"/>
                </a:solidFill>
                <a:latin typeface="Calibri"/>
              </a:rPr>
              <a:t>Samples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6"/>
          <p:cNvSpPr/>
          <p:nvPr/>
        </p:nvSpPr>
        <p:spPr>
          <a:xfrm>
            <a:off x="6053400" y="132588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303 (13 features + target)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7"/>
          <p:cNvSpPr/>
          <p:nvPr/>
        </p:nvSpPr>
        <p:spPr>
          <a:xfrm>
            <a:off x="4818960" y="1764720"/>
            <a:ext cx="3986280" cy="411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4892040" y="176472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d1b3e"/>
                </a:solidFill>
                <a:latin typeface="Calibri"/>
              </a:rPr>
              <a:t>Target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9"/>
          <p:cNvSpPr/>
          <p:nvPr/>
        </p:nvSpPr>
        <p:spPr>
          <a:xfrm>
            <a:off x="6053400" y="176472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Disease Present (1) / Absent (0)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0"/>
          <p:cNvSpPr/>
          <p:nvPr/>
        </p:nvSpPr>
        <p:spPr>
          <a:xfrm>
            <a:off x="4818960" y="2203560"/>
            <a:ext cx="3986280" cy="411120"/>
          </a:xfrm>
          <a:prstGeom prst="rect">
            <a:avLst/>
          </a:prstGeom>
          <a:solidFill>
            <a:srgbClr val="ff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1"/>
          <p:cNvSpPr/>
          <p:nvPr/>
        </p:nvSpPr>
        <p:spPr>
          <a:xfrm>
            <a:off x="4892040" y="220356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d1b3e"/>
                </a:solidFill>
                <a:latin typeface="Calibri"/>
              </a:rPr>
              <a:t>Class Ratio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2"/>
          <p:cNvSpPr/>
          <p:nvPr/>
        </p:nvSpPr>
        <p:spPr>
          <a:xfrm>
            <a:off x="6053400" y="220356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1.17 : 1 (near-balanced)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3"/>
          <p:cNvSpPr/>
          <p:nvPr/>
        </p:nvSpPr>
        <p:spPr>
          <a:xfrm>
            <a:off x="4818960" y="2642760"/>
            <a:ext cx="3986280" cy="411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34"/>
          <p:cNvSpPr/>
          <p:nvPr/>
        </p:nvSpPr>
        <p:spPr>
          <a:xfrm>
            <a:off x="4892040" y="264276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d1b3e"/>
                </a:solidFill>
                <a:latin typeface="Calibri"/>
              </a:rPr>
              <a:t>Preprocessing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35"/>
          <p:cNvSpPr/>
          <p:nvPr/>
        </p:nvSpPr>
        <p:spPr>
          <a:xfrm>
            <a:off x="6053400" y="264276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85 Outliers:There are many outliers, therefore, Robust Scaling applied; 80/20 split → Train 237 / Test 60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6"/>
          <p:cNvSpPr/>
          <p:nvPr/>
        </p:nvSpPr>
        <p:spPr>
          <a:xfrm>
            <a:off x="4892040" y="312732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7a3a3a"/>
                </a:solidFill>
                <a:latin typeface="Calibri"/>
              </a:rPr>
              <a:t>Features: Age · Sex · Chest Pain · Resting BP · Cholesterol · Fasting BS · ECG · Max HR · Exang · Oldpeak · Slope · CA · Thal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7"/>
          <p:cNvSpPr/>
          <p:nvPr/>
        </p:nvSpPr>
        <p:spPr>
          <a:xfrm>
            <a:off x="8686800" y="4864680"/>
            <a:ext cx="34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26"/>
          <p:cNvSpPr/>
          <p:nvPr/>
        </p:nvSpPr>
        <p:spPr>
          <a:xfrm>
            <a:off x="190440" y="2423160"/>
            <a:ext cx="8732520" cy="2514240"/>
          </a:xfrm>
          <a:prstGeom prst="rect">
            <a:avLst/>
          </a:prstGeom>
          <a:solidFill>
            <a:srgbClr val="13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Model Architecture — AI Disease Risk Agent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182880" y="822960"/>
            <a:ext cx="1535760" cy="1416960"/>
          </a:xfrm>
          <a:prstGeom prst="rect">
            <a:avLst/>
          </a:prstGeom>
          <a:solidFill>
            <a:srgbClr val="13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182880" y="822960"/>
            <a:ext cx="1535760" cy="6372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749880" y="951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97" name="Text 5"/>
          <p:cNvSpPr/>
          <p:nvPr/>
        </p:nvSpPr>
        <p:spPr>
          <a:xfrm>
            <a:off x="219600" y="137160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Preprocessing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(NB1)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1719000" y="1481400"/>
            <a:ext cx="21924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1883520" y="1417320"/>
            <a:ext cx="1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▶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1965960" y="822960"/>
            <a:ext cx="1535760" cy="1416960"/>
          </a:xfrm>
          <a:prstGeom prst="rect">
            <a:avLst/>
          </a:prstGeom>
          <a:solidFill>
            <a:srgbClr val="13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1965960" y="822960"/>
            <a:ext cx="1535760" cy="637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Image 1" descr="preencoded.png"/>
          <p:cNvPicPr/>
          <p:nvPr/>
        </p:nvPicPr>
        <p:blipFill>
          <a:blip r:embed="rId2"/>
          <a:stretch/>
        </p:blipFill>
        <p:spPr>
          <a:xfrm>
            <a:off x="2532960" y="951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03" name="Text 10"/>
          <p:cNvSpPr/>
          <p:nvPr/>
        </p:nvSpPr>
        <p:spPr>
          <a:xfrm>
            <a:off x="2002680" y="137160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Feature Engg.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(NB2)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3502080" y="1481400"/>
            <a:ext cx="21924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3666600" y="1417320"/>
            <a:ext cx="1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▶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3749040" y="822960"/>
            <a:ext cx="1535760" cy="1416960"/>
          </a:xfrm>
          <a:prstGeom prst="rect">
            <a:avLst/>
          </a:prstGeom>
          <a:solidFill>
            <a:srgbClr val="13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3749040" y="822960"/>
            <a:ext cx="1535760" cy="637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2" descr="preencoded.png"/>
          <p:cNvPicPr/>
          <p:nvPr/>
        </p:nvPicPr>
        <p:blipFill>
          <a:blip r:embed="rId3"/>
          <a:stretch/>
        </p:blipFill>
        <p:spPr>
          <a:xfrm>
            <a:off x="4316040" y="951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09" name="Text 15"/>
          <p:cNvSpPr/>
          <p:nvPr/>
        </p:nvSpPr>
        <p:spPr>
          <a:xfrm>
            <a:off x="3785760" y="137160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Model Training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(NB3)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5285160" y="1481400"/>
            <a:ext cx="21924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5449680" y="1417320"/>
            <a:ext cx="1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▶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5532120" y="822960"/>
            <a:ext cx="1535760" cy="1416960"/>
          </a:xfrm>
          <a:prstGeom prst="rect">
            <a:avLst/>
          </a:prstGeom>
          <a:solidFill>
            <a:srgbClr val="13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9"/>
          <p:cNvSpPr/>
          <p:nvPr/>
        </p:nvSpPr>
        <p:spPr>
          <a:xfrm>
            <a:off x="5532120" y="822960"/>
            <a:ext cx="1535760" cy="6372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" name="Image 3" descr="preencoded.png"/>
          <p:cNvPicPr/>
          <p:nvPr/>
        </p:nvPicPr>
        <p:blipFill>
          <a:blip r:embed="rId4"/>
          <a:stretch/>
        </p:blipFill>
        <p:spPr>
          <a:xfrm>
            <a:off x="6099120" y="951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15" name="Text 20"/>
          <p:cNvSpPr/>
          <p:nvPr/>
        </p:nvSpPr>
        <p:spPr>
          <a:xfrm>
            <a:off x="5568840" y="137160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Explainability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(NB4)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21"/>
          <p:cNvSpPr/>
          <p:nvPr/>
        </p:nvSpPr>
        <p:spPr>
          <a:xfrm>
            <a:off x="7068240" y="1481400"/>
            <a:ext cx="21924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7232760" y="1417320"/>
            <a:ext cx="1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▶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23"/>
          <p:cNvSpPr/>
          <p:nvPr/>
        </p:nvSpPr>
        <p:spPr>
          <a:xfrm>
            <a:off x="7315200" y="822960"/>
            <a:ext cx="1535760" cy="1416960"/>
          </a:xfrm>
          <a:prstGeom prst="rect">
            <a:avLst/>
          </a:prstGeom>
          <a:solidFill>
            <a:srgbClr val="13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24"/>
          <p:cNvSpPr/>
          <p:nvPr/>
        </p:nvSpPr>
        <p:spPr>
          <a:xfrm>
            <a:off x="7315200" y="822960"/>
            <a:ext cx="1535760" cy="6372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Image 4" descr="preencoded.png"/>
          <p:cNvPicPr/>
          <p:nvPr/>
        </p:nvPicPr>
        <p:blipFill>
          <a:blip r:embed="rId5"/>
          <a:stretch/>
        </p:blipFill>
        <p:spPr>
          <a:xfrm>
            <a:off x="7882200" y="951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21" name="Text 25"/>
          <p:cNvSpPr/>
          <p:nvPr/>
        </p:nvSpPr>
        <p:spPr>
          <a:xfrm>
            <a:off x="7351920" y="137160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AI Agent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(NB5)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27"/>
          <p:cNvSpPr/>
          <p:nvPr/>
        </p:nvSpPr>
        <p:spPr>
          <a:xfrm>
            <a:off x="182880" y="2423160"/>
            <a:ext cx="63720" cy="25142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28"/>
          <p:cNvSpPr/>
          <p:nvPr/>
        </p:nvSpPr>
        <p:spPr>
          <a:xfrm>
            <a:off x="384120" y="2496240"/>
            <a:ext cx="4645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Machine Learning Pipeline &amp; Model Overview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9"/>
          <p:cNvSpPr/>
          <p:nvPr/>
        </p:nvSpPr>
        <p:spPr>
          <a:xfrm>
            <a:off x="384120" y="2980800"/>
            <a:ext cx="91080" cy="9108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30"/>
          <p:cNvSpPr/>
          <p:nvPr/>
        </p:nvSpPr>
        <p:spPr>
          <a:xfrm>
            <a:off x="548640" y="2853000"/>
            <a:ext cx="3702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Preprocessing: Imputes missing health values (Insulin, SkinThickness); applies RobustScaler for fair model training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31"/>
          <p:cNvSpPr/>
          <p:nvPr/>
        </p:nvSpPr>
        <p:spPr>
          <a:xfrm>
            <a:off x="384120" y="3547800"/>
            <a:ext cx="91080" cy="9108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2"/>
          <p:cNvSpPr/>
          <p:nvPr/>
        </p:nvSpPr>
        <p:spPr>
          <a:xfrm>
            <a:off x="548640" y="3420000"/>
            <a:ext cx="3702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Feature Engg.: Creates domain-specific risk indicators (Glucose_Insulin_Ratio, chol_bp_ratio); MI scoring selects most disease-relevant features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33"/>
          <p:cNvSpPr/>
          <p:nvPr/>
        </p:nvSpPr>
        <p:spPr>
          <a:xfrm>
            <a:off x="384120" y="4114800"/>
            <a:ext cx="91080" cy="9108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4"/>
          <p:cNvSpPr/>
          <p:nvPr/>
        </p:nvSpPr>
        <p:spPr>
          <a:xfrm>
            <a:off x="548640" y="3986640"/>
            <a:ext cx="3702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Model Training: Trains LR, RF, GB with GridSearchCV; outputs risk probability (0–1) per patient;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45"/>
          <p:cNvSpPr/>
          <p:nvPr/>
        </p:nvSpPr>
        <p:spPr>
          <a:xfrm>
            <a:off x="4983480" y="39229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2d3ee"/>
                </a:solidFill>
                <a:latin typeface="Calibri"/>
              </a:rPr>
              <a:t>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46"/>
          <p:cNvSpPr/>
          <p:nvPr/>
        </p:nvSpPr>
        <p:spPr>
          <a:xfrm>
            <a:off x="4983480" y="411480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c4d8"/>
                </a:solidFill>
                <a:latin typeface="Calibri"/>
              </a:rPr>
              <a:t>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50"/>
          <p:cNvSpPr/>
          <p:nvPr/>
        </p:nvSpPr>
        <p:spPr>
          <a:xfrm>
            <a:off x="8686800" y="4864680"/>
            <a:ext cx="34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548640" y="2853000"/>
            <a:ext cx="3702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Preprocessing: Imputes missing health 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values (Insulin, SkinThickness); applies 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RobustScaler for fair model training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548640" y="2853000"/>
            <a:ext cx="3702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Preprocessing: Imputes missing health values (Insulin, SkinThickness); 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applies RobustScaler for fair model training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imple"/>
          <p:cNvSpPr txBox="1"/>
          <p:nvPr/>
        </p:nvSpPr>
        <p:spPr>
          <a:xfrm>
            <a:off x="4821120" y="2806920"/>
            <a:ext cx="1808280" cy="903960"/>
          </a:xfrm>
          <a:prstGeom prst="rect">
            <a:avLst/>
          </a:prstGeom>
        </p:spPr>
        <p:txBody>
          <a:bodyPr wrap="none" lIns="94680" rIns="94680" tIns="51480" bIns="5148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>
              <a:lnSpc>
                <a:spcPct val="100000"/>
              </a:lnSpc>
            </a:pPr>
            <a:endParaRPr b="1" lang="en-US" sz="2400" spc="-1" strike="noStrike">
              <a:ln w="19080">
                <a:solidFill>
                  <a:srgbClr val="808080"/>
                </a:solidFill>
                <a:miter/>
              </a:ln>
              <a:solidFill>
                <a:srgbClr val="ffffff"/>
              </a:solidFill>
              <a:latin typeface="Noto Sans"/>
              <a:ea typeface="MS Gothic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029200" y="2971800"/>
            <a:ext cx="2286000" cy="61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Model 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Evaluatio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n: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Accuracy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, 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Precision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, Recall, 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F1-score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ROC-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AUC </a:t>
            </a: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Curve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029200" y="3657600"/>
            <a:ext cx="2514600" cy="65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Prediction System: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8c4d8"/>
                </a:solidFill>
                <a:latin typeface="Calibri"/>
              </a:rPr>
              <a:t>Input patient data → Output risk prediction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25"/>
          <p:cNvSpPr/>
          <p:nvPr/>
        </p:nvSpPr>
        <p:spPr>
          <a:xfrm>
            <a:off x="384120" y="4114800"/>
            <a:ext cx="91080" cy="9108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 flipH="1" flipV="1">
            <a:off x="4799880" y="3199680"/>
            <a:ext cx="360" cy="36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4800600" y="3755160"/>
            <a:ext cx="131040" cy="131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4800240" y="3069360"/>
            <a:ext cx="131040" cy="131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200400" y="6400800"/>
            <a:ext cx="359640" cy="359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Results &amp; Interpretation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274320" y="822960"/>
            <a:ext cx="2011320" cy="1023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274320" y="822960"/>
            <a:ext cx="2011320" cy="5004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274320" y="91440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b7285"/>
                </a:solidFill>
                <a:latin typeface="Calibri"/>
              </a:rPr>
              <a:t>0.8889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365760" y="13716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Best PIMA Recall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(Logistic Regression)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2441520" y="822960"/>
            <a:ext cx="2011320" cy="1023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2441520" y="822960"/>
            <a:ext cx="2011320" cy="5004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2441520" y="91440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dc2626"/>
                </a:solidFill>
                <a:latin typeface="Calibri"/>
              </a:rPr>
              <a:t>0.8214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2532960" y="13716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Best Heart Recall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(Logistic Regression)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4608720" y="822960"/>
            <a:ext cx="2011320" cy="1023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4608720" y="822960"/>
            <a:ext cx="2011320" cy="500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4608720" y="91440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d97706"/>
                </a:solidFill>
                <a:latin typeface="Calibri"/>
              </a:rPr>
              <a:t>0.7338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4700160" y="13716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PIMA Accuracy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5"/>
          <p:cNvSpPr/>
          <p:nvPr/>
        </p:nvSpPr>
        <p:spPr>
          <a:xfrm>
            <a:off x="6775560" y="822960"/>
            <a:ext cx="2011320" cy="1023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6"/>
          <p:cNvSpPr/>
          <p:nvPr/>
        </p:nvSpPr>
        <p:spPr>
          <a:xfrm>
            <a:off x="6775560" y="822960"/>
            <a:ext cx="2011320" cy="5004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6775560" y="91440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59669"/>
                </a:solidFill>
                <a:latin typeface="Calibri"/>
              </a:rPr>
              <a:t>0.8214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8"/>
          <p:cNvSpPr/>
          <p:nvPr/>
        </p:nvSpPr>
        <p:spPr>
          <a:xfrm>
            <a:off x="6867000" y="13716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Heart Accuracy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9"/>
          <p:cNvSpPr/>
          <p:nvPr/>
        </p:nvSpPr>
        <p:spPr>
          <a:xfrm>
            <a:off x="274320" y="199332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3e"/>
                </a:solidFill>
                <a:latin typeface="Calibri"/>
              </a:rPr>
              <a:t>Model Performance on Test Set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3" name="Table 0"/>
          <p:cNvGraphicFramePr/>
          <p:nvPr/>
        </p:nvGraphicFramePr>
        <p:xfrm>
          <a:off x="274320" y="2304360"/>
          <a:ext cx="5211720" cy="141156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PIMA Acc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PIMA F1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PIMA AUC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Heart Acc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Heart F1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Heart AUC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Logistic Regression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0.7338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0.7007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0.8276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0.8500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0.8364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0.9420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Random Forest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0.7143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0.6765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0.8191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0.8333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0.8077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0.9342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Gradient Boosting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0.7338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0.6963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0.8157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0.8167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0.7843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0.9275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bf0"/>
                      </a:solidFill>
                      <a:prstDash val="solid"/>
                    </a:lnL>
                    <a:lnR w="6480">
                      <a:solidFill>
                        <a:srgbClr val="e2ebf0"/>
                      </a:solidFill>
                      <a:prstDash val="solid"/>
                    </a:lnR>
                    <a:lnT w="6480">
                      <a:solidFill>
                        <a:srgbClr val="e2ebf0"/>
                      </a:solidFill>
                      <a:prstDash val="solid"/>
                    </a:lnT>
                    <a:lnB w="6480">
                      <a:solidFill>
                        <a:srgbClr val="e2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" name="Shape 20"/>
          <p:cNvSpPr/>
          <p:nvPr/>
        </p:nvSpPr>
        <p:spPr>
          <a:xfrm>
            <a:off x="5824440" y="1993320"/>
            <a:ext cx="3108600" cy="285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1"/>
          <p:cNvSpPr/>
          <p:nvPr/>
        </p:nvSpPr>
        <p:spPr>
          <a:xfrm>
            <a:off x="5760720" y="1993320"/>
            <a:ext cx="63720" cy="285264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5961960" y="20757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3e"/>
                </a:solidFill>
                <a:latin typeface="Calibri"/>
              </a:rPr>
              <a:t>Key Observations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3"/>
          <p:cNvSpPr/>
          <p:nvPr/>
        </p:nvSpPr>
        <p:spPr>
          <a:xfrm>
            <a:off x="5961960" y="2560320"/>
            <a:ext cx="91080" cy="91080"/>
          </a:xfrm>
          <a:prstGeom prst="ellipse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4"/>
          <p:cNvSpPr/>
          <p:nvPr/>
        </p:nvSpPr>
        <p:spPr>
          <a:xfrm>
            <a:off x="6144840" y="244152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Linear Regression best on both datasets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9"/>
          <p:cNvSpPr/>
          <p:nvPr/>
        </p:nvSpPr>
        <p:spPr>
          <a:xfrm>
            <a:off x="5943600" y="2971800"/>
            <a:ext cx="91080" cy="91080"/>
          </a:xfrm>
          <a:prstGeom prst="ellipse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30"/>
          <p:cNvSpPr/>
          <p:nvPr/>
        </p:nvSpPr>
        <p:spPr>
          <a:xfrm>
            <a:off x="6172200" y="28526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Top PIMA features (MI): Glucose 0.136, BMI 0.0911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31"/>
          <p:cNvSpPr/>
          <p:nvPr/>
        </p:nvSpPr>
        <p:spPr>
          <a:xfrm>
            <a:off x="5943600" y="3337920"/>
            <a:ext cx="91080" cy="91080"/>
          </a:xfrm>
          <a:prstGeom prst="ellipse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32"/>
          <p:cNvSpPr/>
          <p:nvPr/>
        </p:nvSpPr>
        <p:spPr>
          <a:xfrm>
            <a:off x="6172200" y="3263760"/>
            <a:ext cx="25783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Top Heart features (MI): thal 0.143, cp 0.115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33"/>
          <p:cNvSpPr/>
          <p:nvPr/>
        </p:nvSpPr>
        <p:spPr>
          <a:xfrm>
            <a:off x="8686800" y="4864680"/>
            <a:ext cx="34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0" y="914400"/>
            <a:ext cx="6134760" cy="2057400"/>
          </a:xfrm>
          <a:prstGeom prst="rect">
            <a:avLst/>
          </a:prstGeom>
          <a:ln w="0">
            <a:noFill/>
          </a:ln>
        </p:spPr>
      </p:pic>
      <p:pic>
        <p:nvPicPr>
          <p:cNvPr id="175" name="" descr=""/>
          <p:cNvPicPr/>
          <p:nvPr/>
        </p:nvPicPr>
        <p:blipFill>
          <a:blip r:embed="rId2"/>
          <a:stretch/>
        </p:blipFill>
        <p:spPr>
          <a:xfrm rot="10800">
            <a:off x="-2520" y="2974320"/>
            <a:ext cx="6172200" cy="1750680"/>
          </a:xfrm>
          <a:prstGeom prst="rect">
            <a:avLst/>
          </a:prstGeom>
          <a:ln w="0">
            <a:noFill/>
          </a:ln>
        </p:spPr>
      </p:pic>
      <p:pic>
        <p:nvPicPr>
          <p:cNvPr id="176" name="" descr=""/>
          <p:cNvPicPr/>
          <p:nvPr/>
        </p:nvPicPr>
        <p:blipFill>
          <a:blip r:embed="rId3"/>
          <a:stretch/>
        </p:blipFill>
        <p:spPr>
          <a:xfrm>
            <a:off x="6134760" y="885600"/>
            <a:ext cx="3009240" cy="201384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4"/>
          <a:stretch/>
        </p:blipFill>
        <p:spPr>
          <a:xfrm>
            <a:off x="6172200" y="2899440"/>
            <a:ext cx="2971800" cy="2090880"/>
          </a:xfrm>
          <a:prstGeom prst="rect">
            <a:avLst/>
          </a:prstGeom>
          <a:ln w="0">
            <a:noFill/>
          </a:ln>
        </p:spPr>
      </p:pic>
      <p:sp>
        <p:nvSpPr>
          <p:cNvPr id="178" name=""/>
          <p:cNvSpPr txBox="1"/>
          <p:nvPr/>
        </p:nvSpPr>
        <p:spPr>
          <a:xfrm>
            <a:off x="2286000" y="228600"/>
            <a:ext cx="3657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Graphs &amp; Visualization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AI Agent in Action &amp; Conclusion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274320" y="822960"/>
            <a:ext cx="4114440" cy="4068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274320" y="822960"/>
            <a:ext cx="63720" cy="406872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457200" y="896040"/>
            <a:ext cx="3748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3e"/>
                </a:solidFill>
                <a:latin typeface="Calibri"/>
              </a:rPr>
              <a:t>DiseaseRiskAgent Logic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347400" y="1298520"/>
            <a:ext cx="3977280" cy="749520"/>
          </a:xfrm>
          <a:prstGeom prst="rect">
            <a:avLst/>
          </a:prstGeom>
          <a:solidFill>
            <a:srgbClr val="f0fb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347400" y="1298520"/>
            <a:ext cx="54360" cy="74952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475560" y="135324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d1b3e"/>
                </a:solidFill>
                <a:latin typeface="Calibri"/>
              </a:rPr>
              <a:t>Low Risk  (prob &lt; 0.3)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475560" y="163692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e293b"/>
                </a:solidFill>
                <a:latin typeface="Calibri"/>
              </a:rPr>
              <a:t>"Maintain lifestyle, annual checkup"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0"/>
          <p:cNvSpPr/>
          <p:nvPr/>
        </p:nvSpPr>
        <p:spPr>
          <a:xfrm>
            <a:off x="347400" y="2139840"/>
            <a:ext cx="3977280" cy="749520"/>
          </a:xfrm>
          <a:prstGeom prst="rect">
            <a:avLst/>
          </a:prstGeom>
          <a:solidFill>
            <a:srgbClr val="fffb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1"/>
          <p:cNvSpPr/>
          <p:nvPr/>
        </p:nvSpPr>
        <p:spPr>
          <a:xfrm>
            <a:off x="347400" y="2139840"/>
            <a:ext cx="54360" cy="7495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475560" y="21945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d1b3e"/>
                </a:solidFill>
                <a:latin typeface="Calibri"/>
              </a:rPr>
              <a:t>Medium Risk  (0.3 – 0.7)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3"/>
          <p:cNvSpPr/>
          <p:nvPr/>
        </p:nvSpPr>
        <p:spPr>
          <a:xfrm>
            <a:off x="475560" y="24778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e293b"/>
                </a:solidFill>
                <a:latin typeface="Calibri"/>
              </a:rPr>
              <a:t>"200 min/week exercise, reduce sugar, quarterly checkups"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4"/>
          <p:cNvSpPr/>
          <p:nvPr/>
        </p:nvSpPr>
        <p:spPr>
          <a:xfrm>
            <a:off x="347400" y="2980800"/>
            <a:ext cx="3977280" cy="749520"/>
          </a:xfrm>
          <a:prstGeom prst="rect">
            <a:avLst/>
          </a:prstGeom>
          <a:solidFill>
            <a:srgbClr val="ff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5"/>
          <p:cNvSpPr/>
          <p:nvPr/>
        </p:nvSpPr>
        <p:spPr>
          <a:xfrm>
            <a:off x="347400" y="2980800"/>
            <a:ext cx="54360" cy="74952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475560" y="30358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d1b3e"/>
                </a:solidFill>
                <a:latin typeface="Calibri"/>
              </a:rPr>
              <a:t>High Risk  (prob &gt; 0.7)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7"/>
          <p:cNvSpPr/>
          <p:nvPr/>
        </p:nvSpPr>
        <p:spPr>
          <a:xfrm>
            <a:off x="475560" y="33192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e293b"/>
                </a:solidFill>
                <a:latin typeface="Calibri"/>
              </a:rPr>
              <a:t>"Urgent consultation with healthcare provider"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8"/>
          <p:cNvSpPr/>
          <p:nvPr/>
        </p:nvSpPr>
        <p:spPr>
          <a:xfrm>
            <a:off x="411480" y="38588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Sample Agent Outputs (NB5):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9"/>
          <p:cNvSpPr/>
          <p:nvPr/>
        </p:nvSpPr>
        <p:spPr>
          <a:xfrm>
            <a:off x="347400" y="415152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0"/>
          <p:cNvSpPr/>
          <p:nvPr/>
        </p:nvSpPr>
        <p:spPr>
          <a:xfrm>
            <a:off x="347400" y="415152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1"/>
          <p:cNvSpPr/>
          <p:nvPr/>
        </p:nvSpPr>
        <p:spPr>
          <a:xfrm>
            <a:off x="347400" y="415152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2"/>
          <p:cNvSpPr/>
          <p:nvPr/>
        </p:nvSpPr>
        <p:spPr>
          <a:xfrm>
            <a:off x="411480" y="4133160"/>
            <a:ext cx="3748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Prob 0.218 → Low Risk → Lifestyle maintenance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Prob 0.374 → Medium Risk → Dietary + monitoring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Prob 0.401 → Medium Risk → Lifestyle changes (Heart)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3"/>
          <p:cNvSpPr/>
          <p:nvPr/>
        </p:nvSpPr>
        <p:spPr>
          <a:xfrm>
            <a:off x="4663440" y="822960"/>
            <a:ext cx="4205880" cy="4068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455" dir="8100000" blurRad="50760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4"/>
          <p:cNvSpPr/>
          <p:nvPr/>
        </p:nvSpPr>
        <p:spPr>
          <a:xfrm>
            <a:off x="4663440" y="822960"/>
            <a:ext cx="63720" cy="406872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25"/>
          <p:cNvSpPr/>
          <p:nvPr/>
        </p:nvSpPr>
        <p:spPr>
          <a:xfrm>
            <a:off x="4846320" y="896040"/>
            <a:ext cx="3748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3e"/>
                </a:solidFill>
                <a:latin typeface="Calibri"/>
              </a:rPr>
              <a:t>Conclusion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6"/>
          <p:cNvSpPr/>
          <p:nvPr/>
        </p:nvSpPr>
        <p:spPr>
          <a:xfrm>
            <a:off x="4736520" y="1298520"/>
            <a:ext cx="4068720" cy="566640"/>
          </a:xfrm>
          <a:prstGeom prst="rect">
            <a:avLst/>
          </a:prstGeom>
          <a:solidFill>
            <a:srgbClr val="f5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7"/>
          <p:cNvSpPr/>
          <p:nvPr/>
        </p:nvSpPr>
        <p:spPr>
          <a:xfrm>
            <a:off x="4736520" y="1298520"/>
            <a:ext cx="54360" cy="56664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8"/>
          <p:cNvSpPr/>
          <p:nvPr/>
        </p:nvSpPr>
        <p:spPr>
          <a:xfrm>
            <a:off x="4846320" y="13532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✅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Successfully built a 5-notebook end-to-end AI agent for disease risk prediction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9"/>
          <p:cNvSpPr/>
          <p:nvPr/>
        </p:nvSpPr>
        <p:spPr>
          <a:xfrm>
            <a:off x="4736520" y="1956960"/>
            <a:ext cx="4068720" cy="566640"/>
          </a:xfrm>
          <a:prstGeom prst="rect">
            <a:avLst/>
          </a:prstGeom>
          <a:solidFill>
            <a:srgbClr val="f5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0"/>
          <p:cNvSpPr/>
          <p:nvPr/>
        </p:nvSpPr>
        <p:spPr>
          <a:xfrm>
            <a:off x="4736520" y="1956960"/>
            <a:ext cx="54360" cy="56664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31"/>
          <p:cNvSpPr/>
          <p:nvPr/>
        </p:nvSpPr>
        <p:spPr>
          <a:xfrm>
            <a:off x="4846320" y="201168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✅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Real fairness metrics computed — age-group bias identified and documented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2"/>
          <p:cNvSpPr/>
          <p:nvPr/>
        </p:nvSpPr>
        <p:spPr>
          <a:xfrm>
            <a:off x="4736520" y="2615040"/>
            <a:ext cx="4068720" cy="566640"/>
          </a:xfrm>
          <a:prstGeom prst="rect">
            <a:avLst/>
          </a:prstGeom>
          <a:solidFill>
            <a:srgbClr val="f5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3"/>
          <p:cNvSpPr/>
          <p:nvPr/>
        </p:nvSpPr>
        <p:spPr>
          <a:xfrm>
            <a:off x="4736520" y="2615040"/>
            <a:ext cx="54360" cy="56664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4"/>
          <p:cNvSpPr/>
          <p:nvPr/>
        </p:nvSpPr>
        <p:spPr>
          <a:xfrm>
            <a:off x="4846320" y="267012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✅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System is explainable (SHAP + LIME) and ethically analysed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5"/>
          <p:cNvSpPr/>
          <p:nvPr/>
        </p:nvSpPr>
        <p:spPr>
          <a:xfrm>
            <a:off x="4736520" y="3273480"/>
            <a:ext cx="4068720" cy="566640"/>
          </a:xfrm>
          <a:prstGeom prst="rect">
            <a:avLst/>
          </a:prstGeom>
          <a:solidFill>
            <a:srgbClr val="fffb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36"/>
          <p:cNvSpPr/>
          <p:nvPr/>
        </p:nvSpPr>
        <p:spPr>
          <a:xfrm>
            <a:off x="4736520" y="3273480"/>
            <a:ext cx="54360" cy="5666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37"/>
          <p:cNvSpPr/>
          <p:nvPr/>
        </p:nvSpPr>
        <p:spPr>
          <a:xfrm>
            <a:off x="4846320" y="332856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⚠️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Moderate accuracy due to synthetic dataset — real data would improve performance significantly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8"/>
          <p:cNvSpPr/>
          <p:nvPr/>
        </p:nvSpPr>
        <p:spPr>
          <a:xfrm>
            <a:off x="4736520" y="3931920"/>
            <a:ext cx="4068720" cy="566640"/>
          </a:xfrm>
          <a:prstGeom prst="rect">
            <a:avLst/>
          </a:prstGeom>
          <a:solidFill>
            <a:srgbClr val="f5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39"/>
          <p:cNvSpPr/>
          <p:nvPr/>
        </p:nvSpPr>
        <p:spPr>
          <a:xfrm>
            <a:off x="4736520" y="3931920"/>
            <a:ext cx="54360" cy="566640"/>
          </a:xfrm>
          <a:prstGeom prst="rect">
            <a:avLst/>
          </a:prstGeom>
          <a:solidFill>
            <a:srgbClr val="0b72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40"/>
          <p:cNvSpPr/>
          <p:nvPr/>
        </p:nvSpPr>
        <p:spPr>
          <a:xfrm>
            <a:off x="4846320" y="39866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✅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Deployment-ready with documented limitations, encryption, and user rights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41"/>
          <p:cNvSpPr/>
          <p:nvPr/>
        </p:nvSpPr>
        <p:spPr>
          <a:xfrm>
            <a:off x="8686800" y="4864680"/>
            <a:ext cx="34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2026-03-30T11:52:07Z</dcterms:created>
  <dc:creator>PptxGenJS</dc:creator>
  <dc:description/>
  <dc:language>en-US</dc:language>
  <cp:lastModifiedBy/>
  <dcterms:modified xsi:type="dcterms:W3CDTF">2026-04-15T13:17:49Z</dcterms:modified>
  <cp:revision>8</cp:revision>
  <dc:subject>PptxGenJS Presentation</dc:subject>
  <dc:title>AI Agent for Disease Risk Awareness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</vt:r8>
  </property>
  <property fmtid="{D5CDD505-2E9C-101B-9397-08002B2CF9AE}" pid="3" name="PresentationFormat">
    <vt:lpwstr>On-screen Show (16:9)</vt:lpwstr>
  </property>
  <property fmtid="{D5CDD505-2E9C-101B-9397-08002B2CF9AE}" pid="4" name="Slides">
    <vt:r8>7</vt:r8>
  </property>
</Properties>
</file>